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orbis_jp/" TargetMode="External"/><Relationship Id="rId3" Type="http://schemas.openxmlformats.org/officeDocument/2006/relationships/image" Target="../media/image1.jpg"/><Relationship Id="rId4" Type="http://schemas.openxmlformats.org/officeDocument/2006/relationships/hyperlink" Target="https://prtimes.jp/main/html/rd/p/000000846.000016220.html" TargetMode="External"/><Relationship Id="rId5" Type="http://schemas.openxmlformats.org/officeDocument/2006/relationships/image" Target="../media/image2.jpg"/><Relationship Id="rId6" Type="http://schemas.openxmlformats.org/officeDocument/2006/relationships/hyperlink" Target="https://prtimes.jp/main/html/rd/p/000000013.000148282.html" TargetMode="External"/><Relationship Id="rId7" Type="http://schemas.openxmlformats.org/officeDocument/2006/relationships/hyperlink" Target="https://www.instagram.com/ipsa_jp/" TargetMode="External"/><Relationship Id="rId8" Type="http://schemas.openxmlformats.org/officeDocument/2006/relationships/hyperlink" Target="https://www.instagram.com/elixir_official_japan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instagram.com/fujiko_brand/" TargetMode="External"/><Relationship Id="rId4" Type="http://schemas.openxmlformats.org/officeDocument/2006/relationships/hyperlink" Target="https://www.wwdjapan.com/articles/2298114" TargetMode="External"/><Relationship Id="rId5" Type="http://schemas.openxmlformats.org/officeDocument/2006/relationships/image" Target="../media/image4.jpg"/><Relationship Id="rId6" Type="http://schemas.openxmlformats.org/officeDocument/2006/relationships/hyperlink" Target="https://www.instagram.com/etvos.jp/" TargetMode="External"/><Relationship Id="rId7" Type="http://schemas.openxmlformats.org/officeDocument/2006/relationships/hyperlink" Target="https://www.fashionsnap.com/article/etvos-summer-2026/" TargetMode="External"/><Relationship Id="rId8" Type="http://schemas.openxmlformats.org/officeDocument/2006/relationships/hyperlink" Target="https://www.instagram.com/bglen_official/" TargetMode="External"/><Relationship Id="rId9" Type="http://schemas.openxmlformats.org/officeDocument/2006/relationships/hyperlink" Target="https://www.instagram.com/drcilabo_official/" TargetMode="External"/><Relationship Id="rId10" Type="http://schemas.openxmlformats.org/officeDocument/2006/relationships/hyperlink" Target="https://www.uzu.team/" TargetMode="External"/><Relationship Id="rId11" Type="http://schemas.openxmlformats.org/officeDocument/2006/relationships/hyperlink" Target="https://www.instagram.com/whomeeigari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cosrx_jp/" TargetMode="External"/><Relationship Id="rId3" Type="http://schemas.openxmlformats.org/officeDocument/2006/relationships/hyperlink" Target="https://prtimes.jp/main/html/rd/p/000000115.000033507/" TargetMode="External"/><Relationship Id="rId4" Type="http://schemas.openxmlformats.org/officeDocument/2006/relationships/image" Target="../media/image5.jpg"/><Relationship Id="rId5" Type="http://schemas.openxmlformats.org/officeDocument/2006/relationships/hyperlink" Target="https://www.instagram.com/laneige_jp/" TargetMode="External"/><Relationship Id="rId6" Type="http://schemas.openxmlformats.org/officeDocument/2006/relationships/hyperlink" Target="https://www.wwdjapan.com/articles/2116690" TargetMode="External"/><Relationship Id="rId7" Type="http://schemas.openxmlformats.org/officeDocument/2006/relationships/hyperlink" Target="https://youtu.be/FpMNKStxxog" TargetMode="External"/><Relationship Id="rId8" Type="http://schemas.openxmlformats.org/officeDocument/2006/relationships/hyperlink" Target="https://www.instagram.com/innisfreejapan/" TargetMode="External"/><Relationship Id="rId9" Type="http://schemas.openxmlformats.org/officeDocument/2006/relationships/image" Target="../media/image6.jpg"/><Relationship Id="rId10" Type="http://schemas.openxmlformats.org/officeDocument/2006/relationships/hyperlink" Target="https://www.instagram.com/romand_jp/" TargetMode="External"/><Relationship Id="rId11" Type="http://schemas.openxmlformats.org/officeDocument/2006/relationships/hyperlink" Target="https://prtimes.jp/main/html/rd/p/000000007.000109680.html" TargetMode="External"/><Relationship Id="rId12" Type="http://schemas.openxmlformats.org/officeDocument/2006/relationships/image" Target="../media/image7.jpg"/><Relationship Id="rId13" Type="http://schemas.openxmlformats.org/officeDocument/2006/relationships/hyperlink" Target="https://www.instagram.com/cliojapan/" TargetMode="External"/><Relationship Id="rId14" Type="http://schemas.openxmlformats.org/officeDocument/2006/relationships/hyperlink" Target="https://prtimes.jp/main/html/rd/p/000000087.000056098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競合クリエイティブ調査レポート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5607A"/>
                </a:solidFill>
              </a:rPr>
              <a:t>2026年3月 春季クリエイティブ動向分析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調査実施日：2026-03-24　　次回：2026-04-01（自動）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調査対象 16ブランド ／ 国内大手・D2C・韓国コスメ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79" y="1005840"/>
            <a:ext cx="594360" cy="5943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二極化が鮮明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331720"/>
            <a:ext cx="3474720" cy="27432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468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</a:rPr>
              <a:t>「成分×ストーリーテリング」と
「タレント一点集中投資」に分化。
中間戦略ブランドが空洞化。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144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005840"/>
            <a:ext cx="594360" cy="5943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韓国コスメが転換期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331720"/>
            <a:ext cx="3474720" cy="27432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468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</a:rPr>
              <a:t>「流行」から「定番」へのシフト。
K-POP推し文化×リアルイベント融合で
日本市場ローカライズを深化。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9144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005840"/>
            <a:ext cx="594360" cy="5943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差別化空白を発見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331720"/>
            <a:ext cx="3474720" cy="27432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</a:rPr>
              <a:t>「低価格×情緒訴求」ゾーンに過密。
「中価格×パーソナライズ」と
「製造背景の透明性」が競争空白地帯。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5607A"/>
                </a:solidFill>
              </a:rPr>
              <a:t>全カテゴリ共通：Instagram Reels・TikTok縦型動画シフト と マルチユース商品訴求 が加速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今期のクリエイティブトレンド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支配的ビジュアルスタイル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" cy="8229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クリーン成分クローズアップ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</a:rPr>
              <a:t>ORBIS・IPSA・ELIXIR
白背景＋テクスチャ寄り撮影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14600"/>
            <a:ext cx="54864" cy="8229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シーズンテーマ統一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</a:rPr>
              <a:t>ETVOS・Fujiko
春夏でトーンを統一したコレクション感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54864" cy="8229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推し文化・ポートレート重視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</a:rPr>
              <a:t>韓国コスメ全般
人物を大きく配置、発色と共存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83480"/>
            <a:ext cx="54864" cy="8229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縦型ライフスタイル映像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</a:rPr>
              <a:t>全カテゴリ
Reels/TikTok向け縦型動画が急増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777240"/>
            <a:ext cx="36576" cy="56692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主要訴求軸の分布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成分・テクノロジー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16736"/>
            <a:ext cx="1920239" cy="256032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37392" y="13167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7ブランド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タレント・セレブリティ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093976"/>
            <a:ext cx="1645919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63072" y="2093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6ブランド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83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カラー・トレンド感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871215"/>
            <a:ext cx="1371600" cy="2560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88752" y="287121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5ブランド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11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UGC・ユーザー参加型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648456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14432" y="3648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4ブランド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ライフスタイル・哲学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425696"/>
            <a:ext cx="54864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65792" y="44256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2ブランド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機能・マルチユース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5202936"/>
            <a:ext cx="822959" cy="25603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2" y="52029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3ブランド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6035040"/>
            <a:ext cx="5577840" cy="685800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605332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📱 SNS vs 従来広告
TV CM（大手中心）＋ Instagram全社＋ TikTok（韓国・D2C）
リアル接点（駅広告・体験イベント）との融合が加速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ブランド別動向 ／ 国内大手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ORBIS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923544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344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訴求：成分テクノロジー＋限定感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4904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45336"/>
            <a:ext cx="3566160" cy="158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ナノカプセル技術・桜テーマ限定ボトル
「ここちを美しく。」で統一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27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2"/>
              </a:rPr>
              <a:t>📸 Instagram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868680"/>
            <a:ext cx="45720" cy="2651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868680"/>
            <a:ext cx="3429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24528" y="21122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KANEBO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399" y="2121408"/>
            <a:ext cx="10972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変化中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43230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訴求：ライフスタイル・哲学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2688336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2743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WebCM「生きることは、いつだって途中だ。」
Superfly越智志帆出演。「美」から「希望・成長」へ転換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227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4"/>
              </a:rPr>
              <a:t>🔗 詳細リンク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80" y="8686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654" y="868680"/>
            <a:ext cx="1617435" cy="1143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65008" y="21122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DECORTE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9880" y="2121408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243230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訴求：タレント＋体験マーケティング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8432" y="2688336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2743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大谷翔平継続起用。TV-CM「未来を約束する一滴。」
ロンドンバス体験イベント（3/5〜29）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3227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6"/>
              </a:rPr>
              <a:t>🔗 詳細リンク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6118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6118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IPSA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666744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39776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訴求：AI・パーソナライズ＋成分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42336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288536"/>
            <a:ext cx="3566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12年ぶり「ザ・タイム R アクア」大型リニューアル
AI搭載「IPSA MEレコメンダー」経産大臣賞受賞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971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7"/>
              </a:rPr>
              <a:t>📸 Instagram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6118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6118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24528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ELIXIR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399" y="3666744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39776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訴求：多タレント＋成分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42336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4528" y="4288536"/>
            <a:ext cx="3566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石田ゆり子・吉瀬美智子・吉岡里帆で3世代対応
新成分「Collagenesis®」搭載。市場No.1維持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5971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8"/>
              </a:rPr>
              <a:t>📸 Instagram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ブランド別動向 ／ D2C・インフルエンサー系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40" y="868680"/>
            <a:ext cx="2177142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21122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Fujiko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121408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43230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訴求：機能＋マルチユース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688336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43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「毛穴よおだまり！」毛穴カバークリーム（3/24発売）
UGC（#FUJIKO）活用。マルチイージーパレット展開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227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3"/>
              </a:rPr>
              <a:t>📸 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27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4"/>
              </a:rPr>
              <a:t>📰 記事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8686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071" y="868680"/>
            <a:ext cx="2183641" cy="1143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24528" y="21122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ETVOS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399" y="2121408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43230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訴求：ライフスタイル＋カラー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2688336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2743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春「Twin Charm」・夏「Sugared Twilight」テーマ
2wayマスカラ、限定5色展開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3227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6"/>
              </a:rPr>
              <a:t>📸 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227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7"/>
              </a:rPr>
              <a:t>📰 記事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868680"/>
            <a:ext cx="45720" cy="2651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b.glen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923544"/>
            <a:ext cx="10972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変化中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12344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訴求：成分訴求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8432" y="14904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1545336"/>
            <a:ext cx="3566160" cy="158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スーパーQuSomeクリーム（ボタニカル×PDRN）
※ステマ疑惑報道あり — 信頼性に課題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3227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8"/>
              </a:rPr>
              <a:t>📸 Instagram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118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6118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Dr.Ci:Labo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3666744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9776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訴求：成分＋医学的信頼性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42336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288536"/>
            <a:ext cx="3566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CM「透明感、リミットレス。」（穂志もえか出演）
医薬部外品しわ改善訴求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971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9"/>
              </a:rPr>
              <a:t>📸 Instagram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6118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611880"/>
            <a:ext cx="45720" cy="265176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4528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UZU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399" y="3666744"/>
            <a:ext cx="1097280" cy="25603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守り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4528" y="39776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訴求：カラー＋受賞実績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7952" y="42336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4528" y="4288536"/>
            <a:ext cx="3566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アイライナー29冠受賞を継続訴求
新色追加（オレンジ・ライトブルー等）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5971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10"/>
              </a:rPr>
              <a:t>🔗 詳細リンク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80" y="36118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55280" y="3611880"/>
            <a:ext cx="45720" cy="2651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65008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WHOMEE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80" y="3666744"/>
            <a:ext cx="10972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変化中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8" y="39776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28432" y="42336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65008" y="4288536"/>
            <a:ext cx="35661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2026年1月ブランド再編（Win C取得）
既存品50%OFFで在庫消化中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65008" y="5971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11"/>
              </a:rPr>
              <a:t>📸 Instagram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ブランド別動向 ／ 韓国コスメ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COSRX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923544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344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訴求：成分＋EC集中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4904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45336"/>
            <a:ext cx="3566160" cy="158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ビタミンC23セラムリニューアル
Qoo10「メガ割」＋@cosme TOKYOポップアップ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27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2"/>
              </a:rPr>
              <a:t>📸 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27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3"/>
              </a:rPr>
              <a:t>📰 記事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8686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20" y="868680"/>
            <a:ext cx="2177142" cy="114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24528" y="21122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Laneige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399" y="2121408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3230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訴求：推し文化＋限定感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2688336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27432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BTS JIN起用継続。ショートケーキ限定フレーバー
Shibuya Loftポップアップ（3/28〜4/10）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227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5"/>
              </a:rPr>
              <a:t>📸 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227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6"/>
              </a:rPr>
              <a:t>📰 記事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8686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868680"/>
            <a:ext cx="45720" cy="2651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innisfree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69880" y="923544"/>
            <a:ext cx="1097280" cy="2560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変化中→攻め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12344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訴求：タレント（日本ローカライズ）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8432" y="1490472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1545336"/>
            <a:ext cx="3566160" cy="158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日本初アンバサダー：綱啓永（2026年）
MINGYU渋谷ビルボード。@cosme常設展開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7"/>
              </a:rPr>
              <a:t>🎬 YouTube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27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8"/>
              </a:rPr>
              <a:t>📸 Instagram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118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6118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9740" y="3611880"/>
            <a:ext cx="1607343" cy="1143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4048" y="48554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rom&amp;nd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20" y="4864607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1755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訴求：参加型UGC＋リアル接点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5431536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5486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渋谷・池袋駅大型広告（モデルオーディション受賞者28名）
SHOWROOM等5媒体でオーディション施策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5971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10"/>
              </a:rPr>
              <a:t>📸 Instagram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9710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11"/>
              </a:rPr>
              <a:t>📰 記事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3611880"/>
            <a:ext cx="370332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0" y="3611880"/>
            <a:ext cx="45720" cy="265176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399" y="3611880"/>
            <a:ext cx="1826985" cy="1143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224528" y="48554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</a:rPr>
              <a:t>CLIO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399" y="4864607"/>
            <a:ext cx="1097280" cy="256032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攻め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51755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5607A"/>
                </a:solidFill>
              </a:rPr>
              <a:t>訴求：IPコラボ＋限定色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87952" y="5431536"/>
            <a:ext cx="3584448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4528" y="54864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トイ・ストーリーコラボ（7/7発売）
IVEユジングローバルモデル。TikTok活用でCPC最小化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5971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13"/>
              </a:rPr>
              <a:t>📸 Instagram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59710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B5607A"/>
                </a:solidFill>
                <a:hlinkClick r:id="rId14"/>
              </a:rPr>
              <a:t>📰 記事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競合ポジショニングマップ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5532120" cy="2651760"/>
          </a:xfrm>
          <a:prstGeom prst="rect">
            <a:avLst/>
          </a:prstGeom>
          <a:solidFill>
            <a:srgbClr val="F5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59" y="914400"/>
            <a:ext cx="5532120" cy="2651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5532120" cy="2651760"/>
          </a:xfrm>
          <a:prstGeom prst="rect">
            <a:avLst/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59" y="3566160"/>
            <a:ext cx="5532120" cy="2651760"/>
          </a:xfrm>
          <a:prstGeom prst="rect">
            <a:avLst/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高価格帯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低価格帯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607A"/>
                </a:solidFill>
              </a:rPr>
              <a:t>← 情緒訴求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1568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6DA4"/>
                </a:solidFill>
              </a:rPr>
              <a:t>機能訴求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914400"/>
            <a:ext cx="36576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547872"/>
            <a:ext cx="1106424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0058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5607A"/>
                </a:solidFill>
              </a:rPr>
              <a:t>高価格×情緒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10058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6DA4"/>
                </a:solidFill>
              </a:rPr>
              <a:t>高価格×機能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</a:rPr>
              <a:t>低価格×情緒  ⚠️ 過密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36576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52"/>
                </a:solidFill>
              </a:rPr>
              <a:t>低価格×機能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1076" y="18379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KANEBO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1" y="15727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DECORTE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2103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ELIXIR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9619" y="18379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IPSA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6044" y="23682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b.glen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8986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Dr.Ci:Labo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7" y="422452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ORBIS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4116" y="459577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COSRX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39593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Laneige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500" y="491398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rom&amp;nd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1" y="44897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CLIO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3003" y="459577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ETVOS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3" y="475487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Fujiko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5572" y="528523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UZU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1076" y="555040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WHOMEE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3196" y="44897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ELIXIR (Urfle)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5851" y="385328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innisfree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自社への示唆・アクション案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840480" cy="64008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✅ 取り込むべきトレンド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91440" cy="9144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4591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シーズンテーマ×マルチユース商品展開（ETVOS型）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365760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990088"/>
            <a:ext cx="91440" cy="9144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880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成分ストーリーテリング × 短尺縦型動画（TikTok/Reels）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365760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224528"/>
            <a:ext cx="91440" cy="9144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UGCハッシュタグキャンペーン（Fujiko・ETVOS型）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57800"/>
            <a:ext cx="365760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458968"/>
            <a:ext cx="91440" cy="91440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5349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@cosme POPUP + Qoo10セール連動（韓国コスメ型）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868680"/>
            <a:ext cx="384048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9601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❌ 過密・差別化困難な領域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755648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64591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低価格×情緒訴求ゾーン（rom&amp;nd・CLIO・ETVOS・Fujikoが密集）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788920"/>
            <a:ext cx="365760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990088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880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K-POPタレント一点集中起用（飽和・高コスト）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65760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224528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ハリ・弾力・コラーゲン訴求（ELIXIRが市場No.1確立）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868680"/>
            <a:ext cx="3840480" cy="64008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9601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🎯 差別化チャンスのポジション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755648"/>
            <a:ext cx="91440" cy="9144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2" y="164591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「製造背景の透明性」訴求（競合で誰もやっていない空白）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788920"/>
            <a:ext cx="365760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2990088"/>
            <a:ext cx="91440" cy="9144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28803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中価格×パーソナライズ（AI肌診断→商品提案）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4023360"/>
            <a:ext cx="365760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80" y="4224528"/>
            <a:ext cx="91440" cy="9144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41148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EC×小売の融合体験（自社店舗を体験場として再定義）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次回調査までのウォッチリスト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1645920" cy="3657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ブランド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822960"/>
            <a:ext cx="9921240" cy="365760"/>
          </a:xfrm>
          <a:prstGeom prst="rect">
            <a:avLst/>
          </a:prstGeom>
          <a:solidFill>
            <a:srgbClr val="B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822960"/>
            <a:ext cx="9921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注目ポイント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645920" cy="749808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1280160"/>
            <a:ext cx="9921240" cy="749808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71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KANEBO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35331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</a:rPr>
              <a:t>「希望・成長」ブランド再構築の反応。次のCM・商品ラインで方向性が確定するか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03120"/>
            <a:ext cx="1645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2103120"/>
            <a:ext cx="9921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IPSA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17627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</a:rPr>
              <a:t>「ザ・タイム R アクア」12年ぶりリニューアルの売上反応。AI施策の横展開があるか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1645920" cy="749808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65960" y="2926080"/>
            <a:ext cx="9921240" cy="749808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175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innisfree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299923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</a:rPr>
              <a:t>綱啓永起用後の日本市場KPI変化（フォロワー増・売上）。日本人タレント路線を他社が模倣するか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1645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5960" y="3749039"/>
            <a:ext cx="9921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84047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b.glen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822191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</a:rPr>
              <a:t>ステマ問題への対応とブランド信頼性の回復施策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572000"/>
            <a:ext cx="1645920" cy="749808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65960" y="4572000"/>
            <a:ext cx="9921240" cy="749808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663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WHOMEE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64515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</a:rPr>
              <a:t>新体制（Win C）下での戦略リセット内容。再ローンチのタイミング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94960"/>
            <a:ext cx="1645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5960" y="5394960"/>
            <a:ext cx="9921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4864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rom&amp;nd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46811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</a:rPr>
              <a:t>モデルオーディション参加者コンテンツの波及効果。Z世代への浸透度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720840"/>
            <a:ext cx="1161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次回自動調査：2026-04-01 09:00 JST　　調査実施日：2026-03-24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